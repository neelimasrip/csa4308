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0" r:id="rId4"/>
    <p:sldId id="272" r:id="rId5"/>
    <p:sldId id="259" r:id="rId6"/>
    <p:sldId id="262" r:id="rId7"/>
    <p:sldId id="273" r:id="rId8"/>
    <p:sldId id="274" r:id="rId9"/>
    <p:sldId id="275" r:id="rId10"/>
    <p:sldId id="281" r:id="rId11"/>
    <p:sldId id="282" r:id="rId12"/>
    <p:sldId id="276" r:id="rId13"/>
    <p:sldId id="277" r:id="rId14"/>
    <p:sldId id="278" r:id="rId15"/>
    <p:sldId id="280" r:id="rId1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4091A-0B8B-4AF3-BA16-4794FD63149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3CACE-9423-45C0-9D21-75B89C7D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4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3658" y="2065580"/>
            <a:ext cx="7525137" cy="1272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4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Online Doctor Appointment &amp;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600"/>
              </a:lnSpc>
            </a:pPr>
            <a:r>
              <a:rPr lang="en-US" sz="4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Health Record System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45042" y="3670958"/>
            <a:ext cx="57137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4308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Programming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41ADF-8D8B-BFC4-5E0A-5BB686812634}"/>
              </a:ext>
            </a:extLst>
          </p:cNvPr>
          <p:cNvSpPr txBox="1"/>
          <p:nvPr/>
        </p:nvSpPr>
        <p:spPr>
          <a:xfrm>
            <a:off x="1851660" y="5217038"/>
            <a:ext cx="17876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. Raja Gopal 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SSE-Computer Science and Engineering">
            <a:extLst>
              <a:ext uri="{FF2B5EF4-FFF2-40B4-BE49-F238E27FC236}">
                <a16:creationId xmlns:a16="http://schemas.microsoft.com/office/drawing/2014/main" id="{6CC845D4-4FFC-CE85-B02E-5A9FD26A7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262115"/>
            <a:ext cx="11159613" cy="118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0E59AC-6E47-B48C-1ABA-F158D3259155}"/>
              </a:ext>
            </a:extLst>
          </p:cNvPr>
          <p:cNvSpPr txBox="1"/>
          <p:nvPr/>
        </p:nvSpPr>
        <p:spPr>
          <a:xfrm>
            <a:off x="9061754" y="4663041"/>
            <a:ext cx="16530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Suharshitha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 Harshitha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Pallavi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Sameera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Neelima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26CA36-6FD4-DE3C-E5A8-86835BB64052}"/>
              </a:ext>
            </a:extLst>
          </p:cNvPr>
          <p:cNvSpPr txBox="1"/>
          <p:nvPr/>
        </p:nvSpPr>
        <p:spPr>
          <a:xfrm>
            <a:off x="541683" y="1671392"/>
            <a:ext cx="11430000" cy="564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an online platform for patients to book doctor appointments easily.</a:t>
            </a:r>
          </a:p>
          <a:p>
            <a:pPr algn="just">
              <a:lnSpc>
                <a:spcPct val="15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Patients can view doctor details, available slots, and appointment status.</a:t>
            </a:r>
          </a:p>
          <a:p>
            <a:pPr algn="just">
              <a:lnSpc>
                <a:spcPct val="15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Doctors can manage appointments and access patient health records.</a:t>
            </a:r>
          </a:p>
          <a:p>
            <a:pPr algn="just">
              <a:lnSpc>
                <a:spcPct val="15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Medical history, prescriptions, and appointment details are securely stored in a database.</a:t>
            </a:r>
          </a:p>
          <a:p>
            <a:pPr algn="just">
              <a:lnSpc>
                <a:spcPct val="15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reduces manual work and provides quick access to healthcare information.</a:t>
            </a:r>
          </a:p>
          <a:p>
            <a:pPr>
              <a:lnSpc>
                <a:spcPct val="150000"/>
              </a:lnSpc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0;p13">
            <a:extLst>
              <a:ext uri="{FF2B5EF4-FFF2-40B4-BE49-F238E27FC236}">
                <a16:creationId xmlns:a16="http://schemas.microsoft.com/office/drawing/2014/main" id="{E66C66B9-70E7-B196-E4A8-167551AE6FD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0866" y="14135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1;p13">
            <a:extLst>
              <a:ext uri="{FF2B5EF4-FFF2-40B4-BE49-F238E27FC236}">
                <a16:creationId xmlns:a16="http://schemas.microsoft.com/office/drawing/2014/main" id="{EE8D6C7D-3989-27F1-1131-4567650139E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9A3C45-5271-5014-2A12-119D69B9CE72}"/>
              </a:ext>
            </a:extLst>
          </p:cNvPr>
          <p:cNvSpPr txBox="1"/>
          <p:nvPr/>
        </p:nvSpPr>
        <p:spPr>
          <a:xfrm>
            <a:off x="4630994" y="452790"/>
            <a:ext cx="62336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02322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D65003-90C4-6237-EBEE-F06FC97C76B9}"/>
              </a:ext>
            </a:extLst>
          </p:cNvPr>
          <p:cNvSpPr txBox="1"/>
          <p:nvPr/>
        </p:nvSpPr>
        <p:spPr>
          <a:xfrm>
            <a:off x="186813" y="2045110"/>
            <a:ext cx="7376865" cy="455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Doctor Appointment &amp; Health Record System is a web-based healthcare platform.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patients to book appointments with doctors online.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Patients can access their medical history, prescriptions, and appointment details.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Doctors can manage appointments and view relevant patient information.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reduces paperwork and makes healthcare management faster and easier.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1094E-985B-0A67-F12A-3E0456AB9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273698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1F4290-D0E8-5FEA-27A0-AAF6343BC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712" y="273699"/>
            <a:ext cx="1514475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B2F1FC-06BA-1189-D29E-CB4BF621F606}"/>
              </a:ext>
            </a:extLst>
          </p:cNvPr>
          <p:cNvSpPr txBox="1"/>
          <p:nvPr/>
        </p:nvSpPr>
        <p:spPr>
          <a:xfrm>
            <a:off x="3755615" y="492992"/>
            <a:ext cx="345143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BE597-F231-543F-759D-D11D09570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7"/>
          <a:stretch>
            <a:fillRect/>
          </a:stretch>
        </p:blipFill>
        <p:spPr>
          <a:xfrm>
            <a:off x="8090451" y="1718583"/>
            <a:ext cx="3478033" cy="48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3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2976A-1C36-8112-169E-B2D50AD80915}"/>
              </a:ext>
            </a:extLst>
          </p:cNvPr>
          <p:cNvSpPr txBox="1"/>
          <p:nvPr/>
        </p:nvSpPr>
        <p:spPr>
          <a:xfrm>
            <a:off x="427383" y="1585291"/>
            <a:ext cx="11584056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single web-based platform for online appointment booking and health record management.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Patients can register, view doctors, select available slots, and book appointments.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Doctors can manage appointments and update patient medical records.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stores patient details, medical history, prescriptions, and appointment information in a database.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provides secure, organized, and easy access to healthcare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D84FB-8B88-027C-D020-E2B6184A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78" y="201099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4361AE-81F1-B38F-DD78-F7E579B0A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65" y="278627"/>
            <a:ext cx="1514475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C21F5-27E1-9307-8C0D-55E31063FB28}"/>
              </a:ext>
            </a:extLst>
          </p:cNvPr>
          <p:cNvSpPr txBox="1"/>
          <p:nvPr/>
        </p:nvSpPr>
        <p:spPr>
          <a:xfrm>
            <a:off x="3539613" y="583192"/>
            <a:ext cx="568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034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43944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253F"/>
                </a:solidFill>
                <a:latin typeface="Aptos Display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CD2D7C-0666-8C77-25FA-FB53F26F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06092"/>
              </p:ext>
            </p:extLst>
          </p:nvPr>
        </p:nvGraphicFramePr>
        <p:xfrm>
          <a:off x="1620520" y="3268821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55256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89008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7E3A6B9-47F6-6EA7-4512-C8CD1FCE6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55508"/>
              </p:ext>
            </p:extLst>
          </p:nvPr>
        </p:nvGraphicFramePr>
        <p:xfrm>
          <a:off x="346212" y="993914"/>
          <a:ext cx="11499576" cy="5706401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440026">
                  <a:extLst>
                    <a:ext uri="{9D8B030D-6E8A-4147-A177-3AD203B41FA5}">
                      <a16:colId xmlns:a16="http://schemas.microsoft.com/office/drawing/2014/main" val="3646020888"/>
                    </a:ext>
                  </a:extLst>
                </a:gridCol>
                <a:gridCol w="1553692">
                  <a:extLst>
                    <a:ext uri="{9D8B030D-6E8A-4147-A177-3AD203B41FA5}">
                      <a16:colId xmlns:a16="http://schemas.microsoft.com/office/drawing/2014/main" val="2715388317"/>
                    </a:ext>
                  </a:extLst>
                </a:gridCol>
                <a:gridCol w="1564119">
                  <a:extLst>
                    <a:ext uri="{9D8B030D-6E8A-4147-A177-3AD203B41FA5}">
                      <a16:colId xmlns:a16="http://schemas.microsoft.com/office/drawing/2014/main" val="2499860410"/>
                    </a:ext>
                  </a:extLst>
                </a:gridCol>
                <a:gridCol w="1710103">
                  <a:extLst>
                    <a:ext uri="{9D8B030D-6E8A-4147-A177-3AD203B41FA5}">
                      <a16:colId xmlns:a16="http://schemas.microsoft.com/office/drawing/2014/main" val="516558735"/>
                    </a:ext>
                  </a:extLst>
                </a:gridCol>
                <a:gridCol w="1553691">
                  <a:extLst>
                    <a:ext uri="{9D8B030D-6E8A-4147-A177-3AD203B41FA5}">
                      <a16:colId xmlns:a16="http://schemas.microsoft.com/office/drawing/2014/main" val="751399471"/>
                    </a:ext>
                  </a:extLst>
                </a:gridCol>
                <a:gridCol w="2677945">
                  <a:extLst>
                    <a:ext uri="{9D8B030D-6E8A-4147-A177-3AD203B41FA5}">
                      <a16:colId xmlns:a16="http://schemas.microsoft.com/office/drawing/2014/main" val="3111744086"/>
                    </a:ext>
                  </a:extLst>
                </a:gridCol>
              </a:tblGrid>
              <a:tr h="51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Solved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628678"/>
                  </a:ext>
                </a:extLst>
              </a:tr>
              <a:tr h="86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Online Appointment Scheduling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Mazaheri Habibi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waiting time &amp; no-shows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waiting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internet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051307"/>
                  </a:ext>
                </a:extLst>
              </a:tr>
              <a:tr h="86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e-Appointment Scheduling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appointment difficulties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Convenient booking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 digital literacy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924479"/>
                  </a:ext>
                </a:extLst>
              </a:tr>
              <a:tr h="1180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Web-Based Patient Portal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 Portal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Missed appointments &amp;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Improves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user familiarity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597633"/>
                  </a:ext>
                </a:extLst>
              </a:tr>
              <a:tr h="86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Electronic Health Record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Systematic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access to medical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patient involvement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Privacy concerns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231608"/>
                  </a:ext>
                </a:extLst>
              </a:tr>
              <a:tr h="1204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Online Appointment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Kammrath</a:t>
                      </a:r>
                      <a:r>
                        <a:rPr lang="en-IN" sz="2000" dirty="0"/>
                        <a:t> Betancor et al.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Inefficient appointment management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Reduces no-shows &amp; improves utilization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Adoption varies by users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8711039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32644" y="384048"/>
            <a:ext cx="4513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253F"/>
                </a:solidFill>
                <a:latin typeface="Aptos Display"/>
              </a:defRPr>
            </a:pPr>
            <a:r>
              <a:rPr sz="3200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D11A4-3274-0E74-C5E2-F6E71348A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2017942"/>
            <a:ext cx="10789920" cy="4840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05B3AD-AB15-1E67-4455-32963E1A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" y="384047"/>
            <a:ext cx="1133475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673225-0924-4FBA-D813-A8072FA95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575" y="384048"/>
            <a:ext cx="15144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513A2-65DF-5D2D-737F-CCF85437F6F8}"/>
              </a:ext>
            </a:extLst>
          </p:cNvPr>
          <p:cNvSpPr txBox="1"/>
          <p:nvPr/>
        </p:nvSpPr>
        <p:spPr>
          <a:xfrm>
            <a:off x="688776" y="1633416"/>
            <a:ext cx="10347157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patients to search for doctors based on specialization and availability.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doctor information such as name, specialization, experience, and available time slots.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select a suitable date and time for consultation.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online appointment booking and cancellation facilities.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current appointment status to patients and doctors.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73F11-3FAF-966C-25F2-DACAEF36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52" y="164727"/>
            <a:ext cx="1133475" cy="1343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AA8485-8F01-C234-47AA-99F06A27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039" y="290391"/>
            <a:ext cx="1514475" cy="1343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14058-D507-1B89-8872-C10CB29BBA06}"/>
              </a:ext>
            </a:extLst>
          </p:cNvPr>
          <p:cNvSpPr txBox="1"/>
          <p:nvPr/>
        </p:nvSpPr>
        <p:spPr>
          <a:xfrm>
            <a:off x="1690994" y="454072"/>
            <a:ext cx="87310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Doctor Search &amp; Appointment Booking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1961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FA8B56-5CDF-AA02-A173-C25F2BC47704}"/>
              </a:ext>
            </a:extLst>
          </p:cNvPr>
          <p:cNvSpPr txBox="1"/>
          <p:nvPr/>
        </p:nvSpPr>
        <p:spPr>
          <a:xfrm>
            <a:off x="290309" y="1655442"/>
            <a:ext cx="10698533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patient medical information in a centralized digital record.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medical history, diagnosis, prescriptions, and treatment details.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can update patient records after each consultation.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securely view their previous medical records.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and makes health information easier to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AF7A7-1633-680D-22B9-60EA4178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604" y="191267"/>
            <a:ext cx="1514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9D714F-6D0A-C675-6BF8-A76878BF0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9" y="191268"/>
            <a:ext cx="1133475" cy="1343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3CDD3A-2A9C-0F8A-FBE1-F4E1AC40585A}"/>
              </a:ext>
            </a:extLst>
          </p:cNvPr>
          <p:cNvSpPr txBox="1"/>
          <p:nvPr/>
        </p:nvSpPr>
        <p:spPr>
          <a:xfrm>
            <a:off x="1294324" y="385725"/>
            <a:ext cx="8937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Electronic Health Record (EHR) Management</a:t>
            </a:r>
          </a:p>
        </p:txBody>
      </p:sp>
    </p:spTree>
    <p:extLst>
      <p:ext uri="{BB962C8B-B14F-4D97-AF65-F5344CB8AC3E}">
        <p14:creationId xmlns:p14="http://schemas.microsoft.com/office/powerpoint/2010/main" val="125841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5EA532-C786-EE7D-BAF2-CA757468B6A9}"/>
              </a:ext>
            </a:extLst>
          </p:cNvPr>
          <p:cNvSpPr txBox="1"/>
          <p:nvPr/>
        </p:nvSpPr>
        <p:spPr>
          <a:xfrm>
            <a:off x="472464" y="2329210"/>
            <a:ext cx="10528279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administrative dashboard to manage the overall system.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registered patients, doctors, and appointments.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statistics such as total users, appointments, and completed consultations.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monitor system activities and appointment trends.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organized information for better healthcare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901C0-694C-D6B7-21BF-638936B36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351" y="299421"/>
            <a:ext cx="1514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378509-4481-0916-16E1-5ECF64333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36" y="299422"/>
            <a:ext cx="1133475" cy="1343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587883-5055-E41E-777A-39B92A3064F2}"/>
              </a:ext>
            </a:extLst>
          </p:cNvPr>
          <p:cNvSpPr txBox="1"/>
          <p:nvPr/>
        </p:nvSpPr>
        <p:spPr>
          <a:xfrm>
            <a:off x="2477729" y="47694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Admin Dashboard &amp; Analytics</a:t>
            </a:r>
          </a:p>
        </p:txBody>
      </p:sp>
    </p:spTree>
    <p:extLst>
      <p:ext uri="{BB962C8B-B14F-4D97-AF65-F5344CB8AC3E}">
        <p14:creationId xmlns:p14="http://schemas.microsoft.com/office/powerpoint/2010/main" val="3349709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882284-D43F-5AF1-E0AE-26FF205AF910}"/>
              </a:ext>
            </a:extLst>
          </p:cNvPr>
          <p:cNvSpPr txBox="1"/>
          <p:nvPr/>
        </p:nvSpPr>
        <p:spPr>
          <a:xfrm>
            <a:off x="657727" y="2196941"/>
            <a:ext cx="10507579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patients and doctors to create their accounts on the platform.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and logout functionality.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different access levels for patients, doctors, and administrators.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update and manage their profile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personal and health-related information from unauthorized access.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0EF4D-BF43-DCB2-878F-B79031D69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40" y="261522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F8B483-E5AB-AF46-9889-4BF8C29D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723" y="348584"/>
            <a:ext cx="1514475" cy="1343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A2EF87-B4FB-A421-7661-AA4D7B24D241}"/>
              </a:ext>
            </a:extLst>
          </p:cNvPr>
          <p:cNvSpPr txBox="1"/>
          <p:nvPr/>
        </p:nvSpPr>
        <p:spPr>
          <a:xfrm>
            <a:off x="1897626" y="437594"/>
            <a:ext cx="8367097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User Registration &amp;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98635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C01D2F-7C93-F521-B699-E0E7F88B8B89}"/>
              </a:ext>
            </a:extLst>
          </p:cNvPr>
          <p:cNvSpPr txBox="1"/>
          <p:nvPr/>
        </p:nvSpPr>
        <p:spPr>
          <a:xfrm>
            <a:off x="737937" y="2001849"/>
            <a:ext cx="10315074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confirmation notifications after an appointment is booked.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reminders before the scheduled doctor appointment.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patients about appointment changes or cancellations.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doctors about newly scheduled appointments.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stay updated and reduces missed appointments.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7238C-BB3C-336D-F674-008C29DA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58" y="181435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E32B27-6612-99E2-CF56-A064B81A9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362" y="181435"/>
            <a:ext cx="1514475" cy="1343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7B80A8-7E4B-A92B-753F-D4EDCD5E12DF}"/>
              </a:ext>
            </a:extLst>
          </p:cNvPr>
          <p:cNvSpPr txBox="1"/>
          <p:nvPr/>
        </p:nvSpPr>
        <p:spPr>
          <a:xfrm>
            <a:off x="2087510" y="370910"/>
            <a:ext cx="7855975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Notification &amp; Reminder System</a:t>
            </a:r>
          </a:p>
        </p:txBody>
      </p:sp>
    </p:spTree>
    <p:extLst>
      <p:ext uri="{BB962C8B-B14F-4D97-AF65-F5344CB8AC3E}">
        <p14:creationId xmlns:p14="http://schemas.microsoft.com/office/powerpoint/2010/main" val="54562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9BB13-BD0B-9D67-054B-B7B16D8B07AA}"/>
              </a:ext>
            </a:extLst>
          </p:cNvPr>
          <p:cNvSpPr txBox="1"/>
          <p:nvPr/>
        </p:nvSpPr>
        <p:spPr>
          <a:xfrm>
            <a:off x="624605" y="2245895"/>
            <a:ext cx="10746659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Patients can successfully register and book doctor appointments online.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Doctors can view and manage scheduled appointments.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 health records can be stored and retrieved efficiently.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reduces manual paperwork and appointment management time.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provides a convenient and organized healthcare experience.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3AA76-84EA-7F2E-40B5-B75C7379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4" y="67128"/>
            <a:ext cx="1133475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56E4E3-BAA4-237D-91DF-2E5C9766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416" y="237143"/>
            <a:ext cx="1514475" cy="1343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CF3675-8081-BEC8-A859-0072C6A4CE5B}"/>
              </a:ext>
            </a:extLst>
          </p:cNvPr>
          <p:cNvSpPr txBox="1"/>
          <p:nvPr/>
        </p:nvSpPr>
        <p:spPr>
          <a:xfrm>
            <a:off x="3986416" y="496779"/>
            <a:ext cx="609600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28346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69764-EE6C-56BF-52A3-F9EEC56CA1DF}"/>
              </a:ext>
            </a:extLst>
          </p:cNvPr>
          <p:cNvSpPr txBox="1"/>
          <p:nvPr/>
        </p:nvSpPr>
        <p:spPr>
          <a:xfrm>
            <a:off x="529905" y="1943164"/>
            <a:ext cx="10661273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an effective solution for online appointment booking and health record management.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connects patients and doctors through a simple web-based platform.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health records improve accessibility and reduce manual record handling.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makes healthcare management more convenient, organized, and efficient.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D149F-EF99-1DA4-D0D8-15C653A36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02" y="240591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368210-569D-03B6-6073-5163CA0EA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723" y="240591"/>
            <a:ext cx="1514475" cy="1343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75546E-4EC9-DC6B-C1DE-F7139D11AC15}"/>
              </a:ext>
            </a:extLst>
          </p:cNvPr>
          <p:cNvSpPr txBox="1"/>
          <p:nvPr/>
        </p:nvSpPr>
        <p:spPr>
          <a:xfrm>
            <a:off x="3755923" y="375645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0795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93953-B372-853E-6534-AD68E935475F}"/>
              </a:ext>
            </a:extLst>
          </p:cNvPr>
          <p:cNvSpPr txBox="1"/>
          <p:nvPr/>
        </p:nvSpPr>
        <p:spPr>
          <a:xfrm>
            <a:off x="795291" y="1983011"/>
            <a:ext cx="9960077" cy="426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for Android and iOS.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Online video consultation with doctors.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appointment reminders and notifications.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AI-based health assistance and personalized recommendations.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digital prescriptions and laboratory reports.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EA107-8BCA-FCE1-0A9B-16F64B886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3" y="216970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A4030-CF69-F110-5AED-D57D72EAB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059" y="216971"/>
            <a:ext cx="1514475" cy="1343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19BDE2-74C3-8717-E391-3AB3A13E3A62}"/>
              </a:ext>
            </a:extLst>
          </p:cNvPr>
          <p:cNvSpPr txBox="1"/>
          <p:nvPr/>
        </p:nvSpPr>
        <p:spPr>
          <a:xfrm>
            <a:off x="3824748" y="216971"/>
            <a:ext cx="6096000" cy="82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</p:spTree>
    <p:extLst>
      <p:ext uri="{BB962C8B-B14F-4D97-AF65-F5344CB8AC3E}">
        <p14:creationId xmlns:p14="http://schemas.microsoft.com/office/powerpoint/2010/main" val="1364661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Images - Free Download on Magnific (formerly Freepik)">
            <a:extLst>
              <a:ext uri="{FF2B5EF4-FFF2-40B4-BE49-F238E27FC236}">
                <a16:creationId xmlns:a16="http://schemas.microsoft.com/office/drawing/2014/main" id="{896EF694-AEF2-DD1C-C790-B5C54D28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191" y="1319212"/>
            <a:ext cx="5962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73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799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 HARSHITHA NASINA</dc:creator>
  <cp:lastModifiedBy>neelimasri punati</cp:lastModifiedBy>
  <cp:revision>7</cp:revision>
  <dcterms:modified xsi:type="dcterms:W3CDTF">2026-08-28T08:46:22Z</dcterms:modified>
</cp:coreProperties>
</file>